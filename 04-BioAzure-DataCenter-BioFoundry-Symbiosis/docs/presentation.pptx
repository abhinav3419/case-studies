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17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383280"/>
            <a:ext cx="484632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Bio-Azure Circular Symbiosis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Data Center Waste Heat Should Power Bio-Foundries, Not Just Homes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Data Centers </a:t>
            </a:r>
            <a:r>
              <a:rPr lang="en-US" sz="18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</a:t>
            </a:r>
            <a:r>
              <a:rPr lang="en-US" sz="1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Fermentation Bio-Foundries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Implementation Blueprint for Product Managers |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Industries, Two Energy Crises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Research-backed data from IEA, Microsoft, and industry sources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0C1220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 TWh</a:t>
            </a:r>
            <a:r>
              <a:rPr lang="en-US" sz="13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global electricity consumption in 2024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to double by 2030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45–50°C</a:t>
            </a:r>
            <a:r>
              <a:rPr lang="en-US" sz="13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waste heat from liquid-cooled GPUs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(Nvidia Blackwell + successors)
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r>
              <a:rPr lang="en-US" sz="13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total DC energy spent on cooling
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operates 300+ data centers globally
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</a:t>
            </a:r>
            <a:r>
              <a:rPr lang="en-US" sz="12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 mandates 10% heat reuse by July 2026,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to 20% by 2028 (EnEfG)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0C12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Bio-Foundries (Precision Fermentation)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192024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$580M</a:t>
            </a:r>
            <a:r>
              <a:rPr lang="en-US" sz="13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bioreactor market in 2024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to reach $7.6B by 2034 (29.5% CAGR)
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30–40°C</a:t>
            </a:r>
            <a:r>
              <a:rPr lang="en-US" sz="13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constant bioreactor temp needed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72–120 hour fermentation cycles
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8.34 kWh/kg</a:t>
            </a:r>
            <a:r>
              <a:rPr lang="en-US" sz="13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energy per kg protein produced
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30–50%</a:t>
            </a:r>
            <a:r>
              <a:rPr lang="en-US" sz="13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total energy bill goes to heating
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NEW: </a:t>
            </a:r>
            <a:r>
              <a:rPr lang="en-US" sz="12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digital twins now standard for process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— needs co-located compute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Argument: Bio-Foundries &gt; District Heating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05156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match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77440" y="1051560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0C122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10972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 need 60–75°C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heat pump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(COP penalty)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040880" y="1051560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0C12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10972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Bioreactors need 30–40°C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heat used DIRECTLY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heat pump)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130552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profile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77440" y="2130552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0C122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176272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seasonal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crashes in summer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Stranded capacity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40880" y="2130552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0C12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2176272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24/7/365 year-round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DC constant output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Baseload alignment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3209544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77440" y="3209544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0C122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3255264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Kilometers of piping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residential areas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CAPEX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3209544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0C12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3255264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Co-located campus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Pipes in meters, not km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CAPEX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288536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77440" y="4288536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0C122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4334256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Variable, weather-dependent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demand risk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pricing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4288536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0C12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4334256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industrial PPA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contracted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pricing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5367528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377440" y="5367528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0C122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541324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heat sale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IP, no moat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DC can do 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5367528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0C12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541324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+ thermal symbiosis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lock-in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relationship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77440" y="822960"/>
            <a:ext cx="4389120" cy="27432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9" name="Text 27"/>
          <p:cNvSpPr/>
          <p:nvPr/>
        </p:nvSpPr>
        <p:spPr>
          <a:xfrm>
            <a:off x="2377440" y="822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Heating (Homes)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822960"/>
            <a:ext cx="4389120" cy="27432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822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Bio-Foundry (Fermentation)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Process-Level Thermal Mapping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data center heat plugs into each bio-foundry process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560320" cy="41148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097280"/>
            <a:ext cx="1645920" cy="41148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097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1645920" cy="41148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097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heat avail.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1645920" cy="41148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097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097280"/>
            <a:ext cx="4206240" cy="41148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1097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554480"/>
            <a:ext cx="25603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15" name="Shape 13"/>
          <p:cNvSpPr/>
          <p:nvPr/>
        </p:nvSpPr>
        <p:spPr>
          <a:xfrm>
            <a:off x="2834640" y="1554480"/>
            <a:ext cx="16459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1554480"/>
            <a:ext cx="16459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554480"/>
            <a:ext cx="16459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1554480"/>
            <a:ext cx="420624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15544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Bioreactor incubation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1554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30–37°C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1554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45–50°C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15544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15544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process. 72–120hr continuous. Perfect match.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212848"/>
            <a:ext cx="256032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2834640" y="2212848"/>
            <a:ext cx="164592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0560" y="2212848"/>
            <a:ext cx="164592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2212848"/>
            <a:ext cx="164592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0" y="2212848"/>
            <a:ext cx="420624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22128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preparation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34640" y="221284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30–40°C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80560" y="221284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45–50°C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221284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221284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Dissolving, warming feedstock. No boost needed.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2871216"/>
            <a:ext cx="25603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35" name="Shape 33"/>
          <p:cNvSpPr/>
          <p:nvPr/>
        </p:nvSpPr>
        <p:spPr>
          <a:xfrm>
            <a:off x="2834640" y="2871216"/>
            <a:ext cx="16459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36" name="Shape 34"/>
          <p:cNvSpPr/>
          <p:nvPr/>
        </p:nvSpPr>
        <p:spPr>
          <a:xfrm>
            <a:off x="4480560" y="2871216"/>
            <a:ext cx="16459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0" y="2871216"/>
            <a:ext cx="16459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38" name="Shape 36"/>
          <p:cNvSpPr/>
          <p:nvPr/>
        </p:nvSpPr>
        <p:spPr>
          <a:xfrm>
            <a:off x="7772400" y="2871216"/>
            <a:ext cx="420624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28712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train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834640" y="287121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30–37°C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80560" y="287121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45–50°C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26480" y="287121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72400" y="2871216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scale-up. Strict temp. Direct use.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529584"/>
            <a:ext cx="256032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45" name="Shape 43"/>
          <p:cNvSpPr/>
          <p:nvPr/>
        </p:nvSpPr>
        <p:spPr>
          <a:xfrm>
            <a:off x="2834640" y="3529584"/>
            <a:ext cx="164592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529584"/>
            <a:ext cx="164592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47" name="Shape 45"/>
          <p:cNvSpPr/>
          <p:nvPr/>
        </p:nvSpPr>
        <p:spPr>
          <a:xfrm>
            <a:off x="6126480" y="3529584"/>
            <a:ext cx="164592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48" name="Shape 46"/>
          <p:cNvSpPr/>
          <p:nvPr/>
        </p:nvSpPr>
        <p:spPr>
          <a:xfrm>
            <a:off x="7772400" y="3529584"/>
            <a:ext cx="420624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352958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Cleanroom HVAC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834640" y="352958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20–25°C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480560" y="352958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45–50°C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126480" y="352958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772400" y="3529584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Year-round conditioning. DC heat for reheat coils.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4187952"/>
            <a:ext cx="25603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4187952"/>
            <a:ext cx="16459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56" name="Shape 54"/>
          <p:cNvSpPr/>
          <p:nvPr/>
        </p:nvSpPr>
        <p:spPr>
          <a:xfrm>
            <a:off x="4480560" y="4187952"/>
            <a:ext cx="16459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57" name="Shape 55"/>
          <p:cNvSpPr/>
          <p:nvPr/>
        </p:nvSpPr>
        <p:spPr>
          <a:xfrm>
            <a:off x="6126480" y="4187952"/>
            <a:ext cx="16459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58" name="Shape 56"/>
          <p:cNvSpPr/>
          <p:nvPr/>
        </p:nvSpPr>
        <p:spPr>
          <a:xfrm>
            <a:off x="7772400" y="4187952"/>
            <a:ext cx="420624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59" name="Text 57"/>
          <p:cNvSpPr/>
          <p:nvPr/>
        </p:nvSpPr>
        <p:spPr>
          <a:xfrm>
            <a:off x="274320" y="41879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Purification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834640" y="418795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25–35°C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480560" y="418795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45–50°C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126480" y="4187952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772400" y="418795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Membrane processes. Mild temp control.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74320" y="4846320"/>
            <a:ext cx="256032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65" name="Shape 63"/>
          <p:cNvSpPr/>
          <p:nvPr/>
        </p:nvSpPr>
        <p:spPr>
          <a:xfrm>
            <a:off x="2834640" y="4846320"/>
            <a:ext cx="164592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66" name="Shape 64"/>
          <p:cNvSpPr/>
          <p:nvPr/>
        </p:nvSpPr>
        <p:spPr>
          <a:xfrm>
            <a:off x="4480560" y="4846320"/>
            <a:ext cx="164592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67" name="Shape 65"/>
          <p:cNvSpPr/>
          <p:nvPr/>
        </p:nvSpPr>
        <p:spPr>
          <a:xfrm>
            <a:off x="6126480" y="4846320"/>
            <a:ext cx="164592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68" name="Shape 66"/>
          <p:cNvSpPr/>
          <p:nvPr/>
        </p:nvSpPr>
        <p:spPr>
          <a:xfrm>
            <a:off x="7772400" y="4846320"/>
            <a:ext cx="4206240" cy="594360"/>
          </a:xfrm>
          <a:prstGeom prst="rect">
            <a:avLst/>
          </a:prstGeom>
          <a:solidFill>
            <a:srgbClr val="121C2E"/>
          </a:solidFill>
          <a:ln/>
        </p:spPr>
      </p:sp>
      <p:sp>
        <p:nvSpPr>
          <p:cNvPr id="69" name="Text 67"/>
          <p:cNvSpPr/>
          <p:nvPr/>
        </p:nvSpPr>
        <p:spPr>
          <a:xfrm>
            <a:off x="274320" y="4846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Spray-drying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834640" y="4846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40–80°C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480560" y="4846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45–50°C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126480" y="4846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772400" y="484632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range direct. Upper needs +10–30°C.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74320" y="5504688"/>
            <a:ext cx="25603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75" name="Shape 73"/>
          <p:cNvSpPr/>
          <p:nvPr/>
        </p:nvSpPr>
        <p:spPr>
          <a:xfrm>
            <a:off x="2834640" y="5504688"/>
            <a:ext cx="16459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76" name="Shape 74"/>
          <p:cNvSpPr/>
          <p:nvPr/>
        </p:nvSpPr>
        <p:spPr>
          <a:xfrm>
            <a:off x="4480560" y="5504688"/>
            <a:ext cx="16459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77" name="Shape 75"/>
          <p:cNvSpPr/>
          <p:nvPr/>
        </p:nvSpPr>
        <p:spPr>
          <a:xfrm>
            <a:off x="6126480" y="5504688"/>
            <a:ext cx="164592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78" name="Shape 76"/>
          <p:cNvSpPr/>
          <p:nvPr/>
        </p:nvSpPr>
        <p:spPr>
          <a:xfrm>
            <a:off x="7772400" y="5504688"/>
            <a:ext cx="4206240" cy="594360"/>
          </a:xfrm>
          <a:prstGeom prst="rect">
            <a:avLst/>
          </a:prstGeom>
          <a:solidFill>
            <a:srgbClr val="0C1220"/>
          </a:solidFill>
          <a:ln/>
        </p:spPr>
      </p:sp>
      <p:sp>
        <p:nvSpPr>
          <p:cNvPr id="79" name="Text 77"/>
          <p:cNvSpPr/>
          <p:nvPr/>
        </p:nvSpPr>
        <p:spPr>
          <a:xfrm>
            <a:off x="274320" y="5504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 / SIP cleaning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2834640" y="550468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60–80°C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4480560" y="550468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45–50°C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126480" y="550468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PRE-HEAT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772400" y="550468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pre-heats to 50°C. Heat pump boosts rest.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7 processes use DC heat DIRECTLY — no heat pump required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 — By the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20 MW IT load + 5,000 m³ bio-foundry co-location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0C12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$3M–$6M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annual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savings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09728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0C12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17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29768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bio-foundry heating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eliminated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109728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0C122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4173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40–60%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13816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combined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footprint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0C1220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06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7200" y="5166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availability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(DCs never shut down)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38862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0C1220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4206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1.1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297680" y="5166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PUE when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is fully reused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38160" y="38862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0C12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4206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138160" y="5166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pump CAPEX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core processes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Heat: The Co-Location Synergy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10058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C1220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155448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0C1220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459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digital twins of bioreactors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process optimization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Zero-latency GPU access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Strain design ML pipelines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461772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0C1220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09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lock-in: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bio-foundry depends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compute, not just heat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C1220"/>
          </a:solidFill>
          <a:ln w="1905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54680" y="155448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0C1220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6459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treatment plant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loop recycling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20–30M liters/year saved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RO + UV infra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54680" y="461772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0C1220"/>
          </a:solidFill>
          <a:ln w="1905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4709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CAPEX saving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water infrastructure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0058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C1220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0760" y="155448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0C1220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6459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clean energy PPA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solar/wind/SMR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99.99%+ uptime for both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461772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0C1220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4709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per-unit energy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for both parties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06840" y="100584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C1220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06840" y="155448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0C1220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164592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Fortress Campus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weights + Genetic IP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access control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monitoring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06840" y="461772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0C1220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470916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per-facility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cost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 for Product Managers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234440" y="1005840"/>
            <a:ext cx="731520" cy="731520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months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Selection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Feasibility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288036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0C1220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01752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DC campuses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thermal demand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thermal PPA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assessment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1371600"/>
            <a:ext cx="4572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160520" y="1005840"/>
            <a:ext cx="731520" cy="73152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3–12 months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5468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54680" y="288036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0C122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301752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1 bioreactor hall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for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&gt;30% savings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IT impact gate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7880" y="1371600"/>
            <a:ext cx="4572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086600" y="1005840"/>
            <a:ext cx="731520" cy="7315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8076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12–24 months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07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Campus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0760" y="288036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0C1220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01752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processes connected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compute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water recycling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year thermal PPA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23960" y="1371600"/>
            <a:ext cx="457200" cy="0"/>
          </a:xfrm>
          <a:prstGeom prst="line">
            <a:avLst/>
          </a:prstGeom>
          <a:noFill/>
          <a:ln w="25400">
            <a:solidFill>
              <a:srgbClr val="2C3E5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012680" y="1005840"/>
            <a:ext cx="731520" cy="73152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5" name="Text 23"/>
          <p:cNvSpPr/>
          <p:nvPr/>
        </p:nvSpPr>
        <p:spPr>
          <a:xfrm>
            <a:off x="1001268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0684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24+ months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0684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Platform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06840" y="288036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0C1220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720" y="301752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Tech Park blueprint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global campuses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reference arch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as energy anchor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Tailwind — The Window Is Open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mandates make bio-foundry heat reuse a compliance solution, not just an optimization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C122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 🇩🇪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EnEfG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09728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0C1220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heat reuse by Jul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by 2027, 20% by 2028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C1220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EU-wide 🇪🇺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EED 2023/1791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14884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0C1220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148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heat action plans by 2030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DCs &gt;1MW must assess reuse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C1220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Finland 🇫🇮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Espoo project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320040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0C1220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residents heated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World’s largest DC heat recovery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C1220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251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Denmark 🇩🇰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4709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VEKS partnership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425196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0C1220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4251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heat to Copenhagen area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2025–2026 heating season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5303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C1220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303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🇺🇸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5760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House EO 2023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0" y="530352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0C1220"/>
          </a:solidFill>
          <a:ln w="19050">
            <a:solidFill>
              <a:srgbClr val="2C3E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5303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DCs must submit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utilization plans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Bio-foundry partnerships directly satisfy these mandates — with higher ROI than district heating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Not Whether.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Who Builds the First Circular Tech Park.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10332720" cy="36576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57600"/>
            <a:ext cx="9418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routes data center heat to homes.
</a:t>
            </a:r>
            <a:endParaRPr lang="en-US" sz="18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early mover’s advantage, route it to bio-foundries.
</a:t>
            </a:r>
            <a:endParaRPr lang="en-US" sz="1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thermal match is perfect, Infra is </a:t>
            </a:r>
            <a:r>
              <a:rPr lang="en-US" sz="160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twin, the </a:t>
            </a:r>
            <a:r>
              <a:rPr lang="en-US" sz="16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is 24/7,</a:t>
            </a:r>
            <a:endParaRPr lang="en-US" sz="18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B9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strategic value is a platform — not a commodity.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0" y="6217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Abhinav Pandey  |  March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922</Words>
  <Application>Microsoft Office PowerPoint</Application>
  <PresentationFormat>Widescreen</PresentationFormat>
  <Paragraphs>234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Bio-Azure Circular Symbiosis</dc:title>
  <dc:subject>PptxGenJS Presentation</dc:subject>
  <dc:creator>Abhinav Pandey</dc:creator>
  <cp:lastModifiedBy>Abhinav Pandey</cp:lastModifiedBy>
  <cp:revision>3</cp:revision>
  <dcterms:created xsi:type="dcterms:W3CDTF">2026-03-16T14:31:09Z</dcterms:created>
  <dcterms:modified xsi:type="dcterms:W3CDTF">2026-03-16T14:41:10Z</dcterms:modified>
</cp:coreProperties>
</file>